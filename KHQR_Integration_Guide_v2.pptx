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0" y="2880360"/>
            <a:ext cx="54864" cy="109728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KHQR PAYMENT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83C"/>
                </a:solidFill>
                <a:latin typeface="Calibri"/>
              </a:defRPr>
            </a:pPr>
            <a:r>
              <a:t>Bakong (NBC) + ABA Bank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A"/>
                </a:solidFill>
                <a:latin typeface="Calibri"/>
              </a:defRPr>
            </a:pPr>
            <a:r>
              <a:t>Integration Guide for NexusFinance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667A"/>
                </a:solidFill>
                <a:latin typeface="Calibri"/>
              </a:defRPr>
            </a:pPr>
            <a:r>
              <a:t>National Bank of Cambodia  |  ABA Bank  |  KHQR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A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731520" cy="36576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Bakong (NBC) KHQR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1051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A"/>
                </a:solidFill>
                <a:latin typeface="Calibri"/>
              </a:defRPr>
            </a:pPr>
            <a:r>
              <a:t>Overview, prerequisites, API reference, KHQR format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14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ABA Bank API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A"/>
                </a:solidFill>
                <a:latin typeface="Calibri"/>
              </a:defRPr>
            </a:pPr>
            <a:r>
              <a:t>Differences, prerequisites, how to apply,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4787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0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Current Implementation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221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A"/>
                </a:solidFill>
                <a:latin typeface="Calibri"/>
              </a:defRPr>
            </a:pPr>
            <a:r>
              <a:t>What exists (mock vs real), what needs to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5371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828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A"/>
                </a:solidFill>
                <a:latin typeface="Calibri"/>
              </a:defRPr>
            </a:pPr>
            <a:r>
              <a:t>Bakong &amp; ABA .env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86400"/>
            <a:ext cx="594360" cy="594360"/>
          </a:xfrm>
          <a:prstGeom prst="roundRect">
            <a:avLst>
              <a:gd name="adj" fmla="val 1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59552"/>
            <a:ext cx="594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532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Quick Start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8338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A"/>
                </a:solidFill>
                <a:latin typeface="Calibri"/>
              </a:defRPr>
            </a:pPr>
            <a:r>
              <a:t>Step-by-step from registration to go-live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83C"/>
                </a:solidFill>
                <a:latin typeface="Calibri"/>
              </a:defRPr>
            </a:pPr>
            <a: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Bakong (NBC) KHQR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A"/>
                </a:solidFill>
                <a:latin typeface="Calibri"/>
              </a:defRPr>
            </a:pPr>
            <a:r>
              <a:t>Cambodia's national real-time payment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92024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1488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Customer scans KHQR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532888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Opens Bakong or any banking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91693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Confirms payment amount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30098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255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NBC clears funds in real-time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68503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639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  <a:r>
              <a:t>Webhook notifies your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37160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192024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83680" y="2194560"/>
          <a:ext cx="4663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How to Get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Bakong Wallet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Download Bakong app, register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Bakong Account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Format: yourname@bank (e.g. merchant@aclb)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NBC API Token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 with NBC developer support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Server in Cambodia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Required for production check-transaction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31520" y="457200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How to Get NBC API Token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12064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44445A"/>
                </a:solidFill>
                <a:latin typeface="Calibri"/>
              </a:defRPr>
            </a:pPr>
            <a:r>
              <a:t>1.  Email NBC developer support or contact your bank partner</a:t>
            </a:r>
          </a:p>
          <a:p>
            <a:pPr>
              <a:spcAft>
                <a:spcPts val="400"/>
              </a:spcAft>
              <a:defRPr sz="1200">
                <a:solidFill>
                  <a:srgbClr val="44445A"/>
                </a:solidFill>
                <a:latin typeface="Calibri"/>
              </a:defRPr>
            </a:pPr>
            <a:r>
              <a:t>2.  They provide a username/password pair for the API</a:t>
            </a:r>
          </a:p>
          <a:p>
            <a:pPr>
              <a:spcAft>
                <a:spcPts val="400"/>
              </a:spcAft>
              <a:defRPr sz="1200">
                <a:solidFill>
                  <a:srgbClr val="44445A"/>
                </a:solidFill>
                <a:latin typeface="Calibri"/>
              </a:defRPr>
            </a:pPr>
            <a:r>
              <a:t>3.  Call POST /v1/request_token to receive a Bearer token</a:t>
            </a:r>
          </a:p>
          <a:p>
            <a:pPr>
              <a:spcAft>
                <a:spcPts val="400"/>
              </a:spcAft>
              <a:defRPr sz="1200">
                <a:solidFill>
                  <a:srgbClr val="44445A"/>
                </a:solidFill>
                <a:latin typeface="Calibri"/>
              </a:defRPr>
            </a:pPr>
            <a:r>
              <a:t>4.  Token expires — use /v1/renew_token to refresh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Bakong 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A"/>
                </a:solidFill>
                <a:latin typeface="Calibri"/>
              </a:defRPr>
            </a:pPr>
            <a:r>
              <a:t>Base URLs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69848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869680"/>
              </a:tblGrid>
              <a:tr h="2133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Sandbox (SIT)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https://sit-api-bakong.nbc.gov.kh/v1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https://api-bakong.nbc.gov.kh/v1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API Endpoints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560320"/>
          <a:ext cx="10698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5029200"/>
                <a:gridCol w="45720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/v1/request_token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Get access token with credentials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/v1/verify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Verify token is still 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/v1/renew_token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Refresh an expiring token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/v1/generate_deeplink_by_qr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Generate payment deeplink from KHQR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/v1/check_transaction_by_md5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 payment status by MD5 hash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/v1/check_transaction_by_hash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 payment by full transaction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/v1/check_transaction_by_short_hash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 payment by short hash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/v1/check_bakong_account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Verify if a Bakong account exists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A"/>
                </a:solidFill>
                <a:latin typeface="Calibri"/>
              </a:defRPr>
            </a:pPr>
            <a:r>
              <a:t>Response Codes: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011680" y="5486400"/>
          <a:ext cx="3657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</a:tblGrid>
              <a:tr h="1371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Fail / Not found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Unauthorized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KHQR String Format (EMVCo)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A"/>
                </a:solidFill>
                <a:latin typeface="Calibri"/>
              </a:defRPr>
            </a:pPr>
            <a:r>
              <a:t>KHQR follows the EMVCo QR standard with TLV (Tag-Length-Value)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029200"/>
                <a:gridCol w="265176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Payload Format Indicator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EMVCo fixed value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Point of Initiation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11 = Static QR, 12 = Dynamic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Bakong Account 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Merchant account identifier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merchant@aclb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Transaction 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840 = USD, 116 = KHR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Transaction Amount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Optional for dynamic QR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25.00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Country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ISO 3166-1 alpha-2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Merchant Name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Display name shown to customer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NexusFinance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Merchant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City of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Phnom Penh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Store Label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Optional branch or store ID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Main Branch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CRC16-CCITT checksum (last 4 chars)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7D00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A"/>
                </a:solidFill>
                <a:latin typeface="Calibri"/>
              </a:defRPr>
            </a:pPr>
            <a:r>
              <a:t>Example KHQR String:  00020101021229240020merchant@aclb520459995303116540425...63047D00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188720" cy="320040"/>
          </a:xfrm>
          <a:prstGeom prst="roundRect">
            <a:avLst>
              <a:gd name="adj" fmla="val 15000"/>
            </a:avLst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93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83C"/>
                </a:solidFill>
                <a:latin typeface="Calibri"/>
              </a:defRPr>
            </a:pPr>
            <a: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320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ABA Bank API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Key Differences from Bakong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3736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05840" y="201168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Bakong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ABA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Cambodian banks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ABA accounts only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QR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KHQR (EMVCo)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ABA-specific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Access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Apply via NBC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Apply via ABA branch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Real-time via NBC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Batch 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118872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How to Apply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73736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  <a:r>
              <a:t>1. Visit any ABA Bank branch with:</a:t>
            </a: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  <a:r>
              <a:t>     Business registration / company license</a:t>
            </a: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  <a:r>
              <a:t>     ID documents</a:t>
            </a: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  <a:r>
              <a:t>     Bank account statement</a:t>
            </a: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  <a:r>
              <a:t>2. Request "Merchant Payment Gateway"</a:t>
            </a: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  <a:r>
              <a:t>3. ABA provides: Merchant ID, API Key &amp;</a:t>
            </a:r>
          </a:p>
          <a:p>
            <a:pPr>
              <a:spcAft>
                <a:spcPts val="300"/>
              </a:spcAft>
              <a:defRPr sz="1100">
                <a:solidFill>
                  <a:srgbClr val="44445A"/>
                </a:solidFill>
                <a:latin typeface="Calibri"/>
              </a:defRPr>
            </a:pPr>
            <a:r>
              <a:t>     Secret, Endpoint URLs, IP whitelist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698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475488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005840" y="5029200"/>
          <a:ext cx="100584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229600"/>
              </a:tblGrid>
              <a:tr h="2057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How to Get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ABA Merchant Account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Apply at any ABA branch with business documents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API 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Contact ABA Business Banking for API Key &amp; 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IP Whitelist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Register your server IP address with ABA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ABA Bank API Endpoints &amp;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Common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4592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920240"/>
          <a:ext cx="4846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286000"/>
                <a:gridCol w="1645920"/>
              </a:tblGrid>
              <a:tr h="21945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/api/v1/payment/init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Create payment request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/api/v1/payment/status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 payment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/api/v1/payment/refund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Process refund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/api/v1/account/balance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Check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109728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Payment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64592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19202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901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9019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Initiate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019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A"/>
                </a:solidFill>
                <a:latin typeface="Calibri"/>
              </a:defRPr>
            </a:pPr>
            <a:r>
              <a:t>Frontend calls your API to start payment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2514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496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496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96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A"/>
                </a:solidFill>
                <a:latin typeface="Calibri"/>
              </a:defRPr>
            </a:pPr>
            <a:r>
              <a:t>You call ABA /api/v1/payment/init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31089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0906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090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Receive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A"/>
                </a:solidFill>
                <a:latin typeface="Calibri"/>
              </a:defRPr>
            </a:pPr>
            <a:r>
              <a:t>ABA returns payment URL + QR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37033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685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685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85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A"/>
                </a:solidFill>
                <a:latin typeface="Calibri"/>
              </a:defRPr>
            </a:pPr>
            <a:r>
              <a:t>Customer pays via ABA Mobile or QR scan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4297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42793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279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Callback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A"/>
                </a:solidFill>
                <a:latin typeface="Calibri"/>
              </a:defRPr>
            </a:pPr>
            <a:r>
              <a:t>ABA sends webhook to your callbackUrl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48920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8737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Calibri"/>
              </a:defRPr>
            </a:pPr>
            <a:r>
              <a:t>Confirm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73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A"/>
                </a:solidFill>
                <a:latin typeface="Calibri"/>
              </a:defRPr>
            </a:pPr>
            <a:r>
              <a:t>You verify signature, update order 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383280"/>
            <a:ext cx="530352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Initiate Payment — Sample Request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393192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4445A"/>
                </a:solidFill>
                <a:latin typeface="Consolas"/>
              </a:defRPr>
            </a:pPr>
            <a:r>
              <a:t>POST /api/v1/payment/init</a:t>
            </a:r>
            <a:br/>
            <a:br/>
            <a:r>
              <a:t>Headers:</a:t>
            </a:r>
            <a:br/>
            <a:r>
              <a:t>  X-Merchant-Id: {{merchantId}}</a:t>
            </a:r>
            <a:br/>
            <a:r>
              <a:t>  X-Signature: {{hmac_sha256}}</a:t>
            </a:r>
            <a:br/>
            <a:r>
              <a:t>  X-Timestamp: 2025-01-15T10:00:00Z</a:t>
            </a:r>
            <a:br/>
            <a:br/>
            <a:r>
              <a:t>Body:</a:t>
            </a:r>
            <a:br/>
            <a:r>
              <a:t>{</a:t>
            </a:r>
            <a:br/>
            <a:r>
              <a:t>  "txnId": "ORDER_001",</a:t>
            </a:r>
            <a:br/>
            <a:r>
              <a:t>  "amount": 25.00,</a:t>
            </a:r>
            <a:br/>
            <a:r>
              <a:t>  "currency": "USD",</a:t>
            </a:r>
            <a:br/>
            <a:r>
              <a:t>  "callbackUrl": "https://.../api/payment/callback"</a:t>
            </a:r>
            <a:br/>
            <a:r>
              <a:t>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6126480"/>
            <a:ext cx="530352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6217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Callback Webhook: ABA POSTs to your URL with txnId, status, amount, abaTxnRef, signature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Current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A"/>
                </a:solidFill>
                <a:latin typeface="Calibri"/>
              </a:defRPr>
            </a:pPr>
            <a:r>
              <a:t>What exists now vs what needs to change for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What Currently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82880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005840" y="2103120"/>
          <a:ext cx="48463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237744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server/khqr.ts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MOCK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EMVCo QR generation + verify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KHQRPage.tsx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UI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5-tab frontend (Generate, Verify, Decode, Deeplink, Check)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server/index.ts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/api/khqr/* endpoints wired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12801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Mock vs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0" y="210312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828800"/>
                <a:gridCol w="146304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Current (Mock)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D4A83C"/>
                          </a:solidFill>
                          <a:latin typeface="Calibri"/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0F1A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QR Generation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Local EMVCo builder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NBC KHQR SDK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Payment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Random (30% success)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Bakong API 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Deeplink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Fake bakong:// link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Bakong generate_deeplink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In-memory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Bank Coverage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Bakong only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Bakong + ABA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31520" y="393192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What Needs to Change for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448056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88720" y="480060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7548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5A"/>
                </a:solidFill>
                <a:latin typeface="Calibri"/>
              </a:defRPr>
            </a:pPr>
            <a:r>
              <a:t>Replace mock functions with real Bakong API calls in server/khqr.ts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5093208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504748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5A"/>
                </a:solidFill>
                <a:latin typeface="Calibri"/>
              </a:defRPr>
            </a:pPr>
            <a:r>
              <a:t>Add server/aba.ts module for ABA Bank payment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385816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34009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5A"/>
                </a:solidFill>
                <a:latin typeface="Calibri"/>
              </a:defRPr>
            </a:pPr>
            <a:r>
              <a:t>Store transactions in database instead of in-memory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5678424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63270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5A"/>
                </a:solidFill>
                <a:latin typeface="Calibri"/>
              </a:defRPr>
            </a:pPr>
            <a:r>
              <a:t>Add POST /api/payment/callback webhook endpoint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5971032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9253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5A"/>
                </a:solidFill>
                <a:latin typeface="Calibri"/>
              </a:defRPr>
            </a:pPr>
            <a:r>
              <a:t>Add BAKONG_* and ABA_API_* environment variables to .env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8720" y="6263640"/>
            <a:ext cx="137160" cy="137160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6217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4445A"/>
                </a:solidFill>
                <a:latin typeface="Calibri"/>
              </a:defRPr>
            </a:pPr>
            <a:r>
              <a:t>Deploy from Cambodia or use proxy for production Bakong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Bakong (NBC)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4592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4445A"/>
                </a:solidFill>
                <a:latin typeface="Consolas"/>
              </a:defRPr>
            </a:pPr>
            <a:r>
              <a:t>BAKONG_API_BASE_URL</a:t>
            </a:r>
            <a:br/>
            <a:r>
              <a:t>    https://sit-api-bakong.nbc.gov.kh/v1</a:t>
            </a:r>
            <a:br/>
            <a:r>
              <a:t>BAKONG_USERNAME</a:t>
            </a:r>
            <a:br/>
            <a:r>
              <a:t>    your_email@example.com</a:t>
            </a:r>
            <a:br/>
            <a:r>
              <a:t>BAKONG_PASSWORD</a:t>
            </a:r>
            <a:br/>
            <a:r>
              <a:t>    your_api_password</a:t>
            </a:r>
            <a:br/>
            <a:r>
              <a:t>BAKONG_MERCHANT_ID</a:t>
            </a:r>
            <a:br/>
            <a:r>
              <a:t>    merchant@aclb</a:t>
            </a:r>
            <a:br/>
            <a:r>
              <a:t>BAKONG_MERCHANT_NAME</a:t>
            </a:r>
            <a:br/>
            <a:r>
              <a:t>    NexusFinance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ABA Bank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64592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44445A"/>
                </a:solidFill>
                <a:latin typeface="Consolas"/>
              </a:defRPr>
            </a:pPr>
            <a:r>
              <a:t>ABA_API_BASE_URL</a:t>
            </a:r>
            <a:br/>
            <a:r>
              <a:t>    https://api.aba.com.kh/v1</a:t>
            </a:r>
            <a:br/>
            <a:r>
              <a:t>ABA_MERCHANT_ID</a:t>
            </a:r>
            <a:br/>
            <a:r>
              <a:t>    your_aba_merchant_id</a:t>
            </a:r>
            <a:br/>
            <a:r>
              <a:t>ABA_API_KEY</a:t>
            </a:r>
            <a:br/>
            <a:r>
              <a:t>    your_aba_api_key</a:t>
            </a:r>
            <a:br/>
            <a:r>
              <a:t>ABA_API_SECRET</a:t>
            </a:r>
            <a:br/>
            <a:r>
              <a:t>    your_aba_api_secret</a:t>
            </a:r>
            <a:br/>
            <a:r>
              <a:t>ABA_CALLBACK_URL</a:t>
            </a:r>
            <a:br/>
            <a:r>
              <a:t>    https://ndx.com/api/payment/callback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A2E"/>
                </a:solidFill>
                <a:latin typeface="Calibri"/>
              </a:defRPr>
            </a:pPr>
            <a:r>
              <a:t>Full .env Configuration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297680"/>
            <a:ext cx="457200" cy="2743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A1A2E"/>
                </a:solidFill>
                <a:latin typeface="Consolas"/>
              </a:defRPr>
            </a:pPr>
            <a:r>
              <a:t># ── Bakong (NBC) ─────────────────────────────</a:t>
            </a:r>
            <a:br/>
            <a:r>
              <a:t>BAKONG_API_BASE_URL=https://sit-api-bakong.nbc.gov.kh/v1</a:t>
            </a:r>
            <a:br/>
            <a:r>
              <a:t>BAKONG_USERNAME=your_email@example.com</a:t>
            </a:r>
            <a:br/>
            <a:r>
              <a:t>BAKONG_PASSWORD=your_api_password</a:t>
            </a:r>
            <a:br/>
            <a:r>
              <a:t>BAKONG_MERCHANT_ID=merchant@aclb</a:t>
            </a:r>
            <a:br/>
            <a:r>
              <a:t>BAKONG_MERCHANT_NAME=NexusFinance</a:t>
            </a:r>
            <a:br/>
            <a:br/>
            <a:r>
              <a:t># ── ABA Bank ───────────────────────────────────</a:t>
            </a:r>
            <a:br/>
            <a:r>
              <a:t>ABA_API_BASE_URL=https://api.aba.com.kh/v1</a:t>
            </a:r>
            <a:br/>
            <a:r>
              <a:t>ABA_MERCHANT_ID=your_merchant_id</a:t>
            </a:r>
            <a:br/>
            <a:r>
              <a:t>ABA_API_KEY=your_api_key</a:t>
            </a:r>
            <a:br/>
            <a:r>
              <a:t>ABA_API_SECRET=your_api_secret</a:t>
            </a:r>
            <a:br/>
            <a:r>
              <a:t>ABA_CALLBACK_URL=https://nexusfinancefintech.vercel.app/api/payment/callback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A2E"/>
                </a:solidFill>
                <a:latin typeface="Calibri"/>
              </a:defRPr>
            </a:pPr>
            <a:r>
              <a:t>Quick Start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A"/>
                </a:solidFill>
                <a:latin typeface="Calibri"/>
              </a:defRPr>
            </a:pPr>
            <a:r>
              <a:t>Steps to go from mock to live payment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98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01. Bakong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29844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6C8"/>
                </a:solidFill>
                <a:latin typeface="Calibri"/>
              </a:defRPr>
            </a:pPr>
            <a:r>
              <a:t>Download Bakong app, register wallet, get Account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2984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02. NBC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29844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6C8"/>
                </a:solidFill>
                <a:latin typeface="Calibri"/>
              </a:defRPr>
            </a:pPr>
            <a:r>
              <a:t>Email NBC or bank for API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0F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01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03. Configure Bakong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8013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6C8"/>
                </a:solidFill>
                <a:latin typeface="Calibri"/>
              </a:defRPr>
            </a:pPr>
            <a:r>
              <a:t>Set BAKONG_API_* vars in .env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7830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013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04. Update khqr.ts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8013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6C8"/>
                </a:solidFill>
                <a:latin typeface="Calibri"/>
              </a:defRPr>
            </a:pPr>
            <a:r>
              <a:t>Replace mock with real Bakong API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28600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3042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05. ABA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30428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6C8"/>
                </a:solidFill>
                <a:latin typeface="Calibri"/>
              </a:defRPr>
            </a:pPr>
            <a:r>
              <a:t>Visit ABA branch with business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3042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06. Configure ABA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30428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E6C8"/>
                </a:solidFill>
                <a:latin typeface="Calibri"/>
              </a:defRPr>
            </a:pPr>
            <a:r>
              <a:t>Set ABA_API_* vars in .env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78892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80720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07. ABA IP Whitelist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280720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A"/>
                </a:solidFill>
                <a:latin typeface="Calibri"/>
              </a:defRPr>
            </a:pPr>
            <a:r>
              <a:t>Register server IP with ABA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78892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80720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08. Create aba.ts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80720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A"/>
                </a:solidFill>
                <a:latin typeface="Calibri"/>
              </a:defRPr>
            </a:pPr>
            <a:r>
              <a:t>Build ABA module for payment flow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29184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3101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09. Webhook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331012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A"/>
                </a:solidFill>
                <a:latin typeface="Calibri"/>
              </a:defRPr>
            </a:pPr>
            <a:r>
              <a:t>Add /api/payment/callback endpoint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29184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31012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10. Sandbox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31012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A"/>
                </a:solidFill>
                <a:latin typeface="Calibri"/>
              </a:defRPr>
            </a:pPr>
            <a:r>
              <a:t>Test both Bakong and ABA flows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79476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81304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Calibri"/>
              </a:defRPr>
            </a:pPr>
            <a:r>
              <a:t>11. Go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81304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A"/>
                </a:solidFill>
                <a:latin typeface="Calibri"/>
              </a:defRPr>
            </a:pPr>
            <a:r>
              <a:t>Deploy to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0" y="3017520"/>
            <a:ext cx="1554480" cy="54864"/>
          </a:xfrm>
          <a:prstGeom prst="roundRect">
            <a:avLst>
              <a:gd name="adj" fmla="val 50000"/>
            </a:avLst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83C"/>
                </a:solidFill>
                <a:latin typeface="Calibri"/>
              </a:defRPr>
            </a:pPr>
            <a:r>
              <a:t>NexusFinance — Smart Lending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A"/>
                </a:solidFill>
                <a:latin typeface="Calibri"/>
              </a:defRPr>
            </a:pPr>
            <a:r>
              <a:t>https://nexusfinancefintech.vercel.app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